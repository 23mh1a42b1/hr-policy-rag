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employees that luxury upgrades are at personal expense.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Reimbursements are processed bi-weekly with payroll.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Corporate Travel &amp; Expense Policy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Acme Global Enterprise | Finance &amp; People Operations (Rev.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2E81"/>
                </a:solidFill>
              </a:defRPr>
            </a:pPr>
            <a:r>
              <a:t>1. Business Travel and Hotel Accommodations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• All business flights under 6 hours must be booked in Economy or Premium Economy class.</a:t>
            </a:r>
          </a:p>
          <a:p>
            <a:pPr>
              <a:spcAft>
                <a:spcPts val="1000"/>
              </a:spcAft>
              <a:defRPr sz="1400"/>
            </a:pPr>
            <a:r>
              <a:t>• Domestic hotel accommodations must not exceed $220 per night (exclusive of local taxes), unless traveling to high-cost metropolitan tier-1 cities where the cap is $320.</a:t>
            </a:r>
          </a:p>
          <a:p>
            <a:pPr>
              <a:spcAft>
                <a:spcPts val="1000"/>
              </a:spcAft>
              <a:defRPr sz="1400"/>
            </a:pPr>
            <a:r>
              <a:t>• All flight and rail reservations must be processed through the Navan corporate portal at least 14 days prior to departure.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2E81"/>
                </a:solidFill>
              </a:defRPr>
            </a:pPr>
            <a:r>
              <a:t>2. Daily Meal Allowances (Per Diem)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• Breakfast allowance: up to $20 per day (when traveling overnight).</a:t>
            </a:r>
          </a:p>
          <a:p>
            <a:pPr>
              <a:spcAft>
                <a:spcPts val="1000"/>
              </a:spcAft>
              <a:defRPr sz="1400"/>
            </a:pPr>
            <a:r>
              <a:t>• Lunch allowance: up to $30 per day for traveling team members.</a:t>
            </a:r>
          </a:p>
          <a:p>
            <a:pPr>
              <a:spcAft>
                <a:spcPts val="1000"/>
              </a:spcAft>
              <a:defRPr sz="1400"/>
            </a:pPr>
            <a:r>
              <a:t>• Dinner allowance: up to $50 per day for overnight business travel.</a:t>
            </a:r>
          </a:p>
          <a:p>
            <a:pPr>
              <a:spcAft>
                <a:spcPts val="1000"/>
              </a:spcAft>
              <a:defRPr sz="1400"/>
            </a:pPr>
            <a:r>
              <a:t>• Itemized receipts are required for all meals above $25. Alcoholic beverages are non-reimbursable unless attending an official executive client dinner.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2E81"/>
                </a:solidFill>
              </a:defRPr>
            </a:pPr>
            <a:r>
              <a:t>3. Non-Reimbursable Personal Expenses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• Traffic and parking violations, speeding tickets, or toll violations incurred while driving.</a:t>
            </a:r>
          </a:p>
          <a:p>
            <a:pPr>
              <a:spcAft>
                <a:spcPts val="1000"/>
              </a:spcAft>
              <a:defRPr sz="1400"/>
            </a:pPr>
            <a:r>
              <a:t>• In-flight personal entertainment, Wi-Fi upgrades on short flights (&lt; 2 hours), or streaming subscriptions.</a:t>
            </a:r>
          </a:p>
          <a:p>
            <a:pPr>
              <a:spcAft>
                <a:spcPts val="1000"/>
              </a:spcAft>
              <a:defRPr sz="1400"/>
            </a:pPr>
            <a:r>
              <a:t>• Personal grooming, clothing, hotel minibar charges, dry cleaning for trips under 4 days.</a:t>
            </a:r>
          </a:p>
          <a:p>
            <a:pPr>
              <a:spcAft>
                <a:spcPts val="1000"/>
              </a:spcAft>
              <a:defRPr sz="1400"/>
            </a:pPr>
            <a:r>
              <a:t>• Spouse or guest travel expenses unless specifically authorized by the VP of People.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2E81"/>
                </a:solidFill>
              </a:defRPr>
            </a:pPr>
            <a:r>
              <a:t>4. Submission Deadlines and Approval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• Expense reports must be submitted within 30 calendar days of the expenditure date.</a:t>
            </a:r>
          </a:p>
          <a:p>
            <a:pPr>
              <a:spcAft>
                <a:spcPts val="1000"/>
              </a:spcAft>
              <a:defRPr sz="1400"/>
            </a:pPr>
            <a:r>
              <a:t>• Expenses below $1,000 require Direct Manager sign-off.</a:t>
            </a:r>
          </a:p>
          <a:p>
            <a:pPr>
              <a:spcAft>
                <a:spcPts val="1000"/>
              </a:spcAft>
              <a:defRPr sz="1400"/>
            </a:pPr>
            <a:r>
              <a:t>• Expenses between $1,000 and $5,000 require Department Director approval.</a:t>
            </a:r>
          </a:p>
          <a:p>
            <a:pPr>
              <a:spcAft>
                <a:spcPts val="1000"/>
              </a:spcAft>
              <a:defRPr sz="1400"/>
            </a:pPr>
            <a:r>
              <a:t>• Expenses exceeding $5,000 require VP or CFO approval prior to disbursement.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